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59" r:id="rId9"/>
    <p:sldId id="270" r:id="rId10"/>
    <p:sldId id="273" r:id="rId11"/>
    <p:sldId id="271" r:id="rId12"/>
    <p:sldId id="272" r:id="rId13"/>
    <p:sldId id="274" r:id="rId14"/>
    <p:sldId id="275" r:id="rId15"/>
    <p:sldId id="276" r:id="rId16"/>
    <p:sldId id="277" r:id="rId17"/>
    <p:sldId id="278" r:id="rId18"/>
    <p:sldId id="269" r:id="rId19"/>
    <p:sldId id="279" r:id="rId20"/>
    <p:sldId id="260" r:id="rId21"/>
    <p:sldId id="261" r:id="rId22"/>
    <p:sldId id="262" r:id="rId23"/>
    <p:sldId id="263" r:id="rId24"/>
  </p:sldIdLst>
  <p:sldSz cx="9144000" cy="5143500" type="screen16x9"/>
  <p:notesSz cx="6858000" cy="9144000"/>
  <p:embeddedFontLst>
    <p:embeddedFont>
      <p:font typeface="Lora" pitchFamily="2" charset="0"/>
      <p:regular r:id="rId26"/>
      <p:bold r:id="rId27"/>
      <p:italic r:id="rId28"/>
      <p:boldItalic r:id="rId29"/>
    </p:embeddedFont>
    <p:embeddedFont>
      <p:font typeface="Meiryo" panose="020B0604030504040204" pitchFamily="34" charset="-128"/>
      <p:regular r:id="rId30"/>
      <p:bold r:id="rId31"/>
      <p:italic r:id="rId32"/>
      <p:boldItalic r:id="rId33"/>
    </p:embeddedFont>
    <p:embeddedFont>
      <p:font typeface="Playfair Display" panose="000005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FFBD7761-0372-664D-9595-2865CC0F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>
            <a:extLst>
              <a:ext uri="{FF2B5EF4-FFF2-40B4-BE49-F238E27FC236}">
                <a16:creationId xmlns:a16="http://schemas.microsoft.com/office/drawing/2014/main" id="{871FA55A-5C4B-41DD-36FF-A869D7C03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911CFC08-745F-7D99-9831-F71243D81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3334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20A6A8D-6E68-1D79-FD7E-A5E28572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AB4C99E-6725-7221-621A-143BA96D78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0BC1DFB5-FB5E-029E-C25C-D524B3299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149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6565D94-E2F1-14E2-A0BD-99308D3D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28D9E696-6AA0-4928-C685-63D0F0B68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A44C19A2-0921-700A-594D-B773A62E1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49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5527F10-2686-E7C3-FF39-C85144A7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1EF493D5-B8A2-6C96-C670-3EE2445B1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1FC2BE50-514E-9807-C5BA-4A50A007F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794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CCAD063-251C-9CCB-9876-59ABF733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36F6CCC-02FF-518C-AED1-6807008CB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1F1A7D23-6465-A751-3E70-00672563D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7916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29EB0E9-C12D-93FF-0E4A-3FEC653B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378AD27E-2AD3-4957-AA7F-0F141EFE4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D43003F-BD47-890A-FA5C-47AB276C5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0450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C224013-F046-4475-542A-6C65E500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BA20F8C-21B9-775F-5712-859C50EDE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D3EEF80E-351C-0A9F-96A1-2DCC2C052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501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2AA97C8-AA5A-FC58-31C2-A786B367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A18685D-A78C-B10C-533E-1BE645D55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27D015C-4439-7E28-2A69-0642D0B27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8808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30873A3-C1E1-05E4-797C-E5EA05DE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AF368FDB-5EB9-3963-5B54-68F791AAD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4810DBB0-0449-2B6C-7CAF-72E4C7CCD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9499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53DA8CD-DB1C-B994-A435-F99456AC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24B6D9C4-6308-3A3E-1150-0ACE9B8EE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F9DC308-924A-FFF9-DF66-23E8D406B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1322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649F843-4C39-4A50-562A-78B1BD8F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F8B20677-6F63-D130-90A9-98720D9ED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95556B99-1FC7-54FD-DDEE-D14F50AB38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491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1E26986-94AD-B04C-9A65-2001029E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80C6CCE-6562-504B-1E41-2C33B67B9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5A21C961-121D-C33E-021D-972A283F3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7496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C1AFC47-1DDF-7009-DDA4-C3D22165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0C59B6F5-E244-2609-4DBB-E6F3877DB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FEAE40E6-A89D-4FC9-8C92-EFA567F9E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6857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142E46B-885A-7EF0-312E-516D820D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1207694F-6E4C-5572-36FA-35954FD2B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4D96140-36C6-D286-E3AE-D33663979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8798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D3AEFD5-4898-9490-6509-42983E29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84022421-A3D1-3A24-652B-C4040A28E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4987422-6525-1D19-D9C8-672EED00F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4434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0BFE43B-FF96-6A48-ADE5-8718A68B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53E58E71-5883-2934-CA36-56D16D392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2A22AD0E-1F17-F551-D1AB-B9993519E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444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73b53f3c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273b53f3c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73b53f3c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273b53f3c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ユーザー設定レイアウト">
  <p:cSld name="3_ユーザー設定レイアウト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51926" y="465516"/>
            <a:ext cx="8642480" cy="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1">
                <a:solidFill>
                  <a:schemeClr val="accent1"/>
                </a:solidFill>
              </a:defRPr>
            </a:lvl1pPr>
            <a:lvl2pPr lvl="1">
              <a:spcBef>
                <a:spcPts val="22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45103" y="776288"/>
            <a:ext cx="7853795" cy="84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454925" y="1045950"/>
            <a:ext cx="4234200" cy="3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◈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lvl="1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⬥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lvl="2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⬦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lvl="3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⬩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lvl="4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⬩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lvl="5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⬩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lvl="6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⬩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lvl="7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○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lvl="8" indent="-419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Char char="■"/>
              <a:defRPr sz="3000" i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-53789" y="4953912"/>
            <a:ext cx="9144000" cy="18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rPr>
              <a:t>GOOD PEOPLE MAKE GOOD PRODUCTS – Page </a:t>
            </a:r>
            <a:fld id="{00000000-1234-1234-1234-123412341234}" type="slidenum">
              <a:rPr lang="en-US" sz="900" b="0" i="0" u="none" strike="noStrike" cap="none"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sz="900" b="0" i="0" u="none" strike="noStrike" cap="none">
              <a:solidFill>
                <a:srgbClr val="6B2B2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0" y="4954621"/>
            <a:ext cx="9144000" cy="18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PEOPLE MAKE GOOD PRODUCTS – PAGE </a:t>
            </a:r>
            <a:fld id="{00000000-1234-1234-1234-123412341234}" type="slidenum">
              <a:rPr lang="en-US"/>
              <a:t>‹#›</a:t>
            </a:fld>
            <a:endParaRPr sz="900"/>
          </a:p>
        </p:txBody>
      </p:sp>
      <p:sp>
        <p:nvSpPr>
          <p:cNvPr id="21" name="Google Shape;21;p4"/>
          <p:cNvSpPr txBox="1"/>
          <p:nvPr/>
        </p:nvSpPr>
        <p:spPr>
          <a:xfrm>
            <a:off x="2154329" y="5018466"/>
            <a:ext cx="499980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B2B2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0" y="4954621"/>
            <a:ext cx="9144000" cy="18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PEOPLE MAKE GOOD PRODUCTS – PAGE </a:t>
            </a: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683556" y="0"/>
            <a:ext cx="4604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7" descr="モニター画面に映る文字&#10;&#10;低い精度で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002" y="89823"/>
            <a:ext cx="799704" cy="16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0" y="4954621"/>
            <a:ext cx="9144000" cy="18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PEOPLE MAKE GOOD PRODUCTS – Page </a:t>
            </a:r>
            <a:fld id="{00000000-1234-1234-1234-123412341234}" type="slidenum">
              <a:rPr lang="en-US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1031425" y="750150"/>
            <a:ext cx="7081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784100" y="1453625"/>
            <a:ext cx="3677100" cy="3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◈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⬥"/>
              <a:defRPr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⬦"/>
              <a:defRPr/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4pPr>
            <a:lvl5pPr marL="2286000" lvl="4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5pPr>
            <a:lvl6pPr marL="2743200" lvl="5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6pPr>
            <a:lvl7pPr marL="3200400" lvl="6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7pPr>
            <a:lvl8pPr marL="3657600" lvl="7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8pPr>
            <a:lvl9pPr marL="4114800" lvl="8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4682718" y="1453625"/>
            <a:ext cx="3677100" cy="3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◈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⬥"/>
              <a:defRPr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⬦"/>
              <a:defRPr/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4pPr>
            <a:lvl5pPr marL="2286000" lvl="4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5pPr>
            <a:lvl6pPr marL="2743200" lvl="5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6pPr>
            <a:lvl7pPr marL="3200400" lvl="6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⬩"/>
              <a:defRPr/>
            </a:lvl7pPr>
            <a:lvl8pPr marL="3657600" lvl="7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8pPr>
            <a:lvl9pPr marL="4114800" lvl="8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0" y="4954621"/>
            <a:ext cx="9144000" cy="18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6B2B2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PEOPLE MAKE GOOD PRODUCTS – Page </a:t>
            </a:r>
            <a:fld id="{00000000-1234-1234-1234-123412341234}" type="slidenum">
              <a:rPr lang="en-US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1031425" y="750150"/>
            <a:ext cx="7081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539000" y="1471725"/>
            <a:ext cx="2579100" cy="3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◈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⬥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⬦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2"/>
          </p:nvPr>
        </p:nvSpPr>
        <p:spPr>
          <a:xfrm>
            <a:off x="3250326" y="1471725"/>
            <a:ext cx="2579100" cy="3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◈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⬥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⬦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3"/>
          </p:nvPr>
        </p:nvSpPr>
        <p:spPr>
          <a:xfrm>
            <a:off x="5961653" y="1471725"/>
            <a:ext cx="2579100" cy="3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◈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⬥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⬦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⬩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FEF1F5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404698" y="4869656"/>
            <a:ext cx="7393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FEF1F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844" y="1835594"/>
            <a:ext cx="6724988" cy="1372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606" y="354312"/>
            <a:ext cx="6970535" cy="130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942109" y="758475"/>
            <a:ext cx="6324666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spcBef>
                <a:spcPts val="600"/>
              </a:spcBef>
              <a:buClr>
                <a:schemeClr val="accent1"/>
              </a:buClr>
              <a:buSzPts val="2400"/>
            </a:pPr>
            <a:r>
              <a:rPr lang="vi-VN" sz="2400" dirty="0">
                <a:solidFill>
                  <a:srgbClr val="C00000"/>
                </a:solidFill>
              </a:rPr>
              <a:t>Hướng dẫn Viết Unit Test Case </a:t>
            </a:r>
            <a:endParaRPr lang="en-US" sz="2400" dirty="0">
              <a:solidFill>
                <a:srgbClr val="C00000"/>
              </a:solidFill>
            </a:endParaRPr>
          </a:p>
          <a:p>
            <a:pPr lvl="0" algn="ctr">
              <a:spcBef>
                <a:spcPts val="600"/>
              </a:spcBef>
              <a:buClr>
                <a:schemeClr val="accent1"/>
              </a:buClr>
              <a:buSzPts val="2400"/>
            </a:pPr>
            <a:r>
              <a:rPr lang="en-US" sz="2400" dirty="0">
                <a:solidFill>
                  <a:srgbClr val="C00000"/>
                </a:solidFill>
              </a:rPr>
              <a:t>Theo</a:t>
            </a:r>
            <a:r>
              <a:rPr lang="vi-VN" sz="2400" dirty="0">
                <a:solidFill>
                  <a:srgbClr val="C00000"/>
                </a:solidFill>
              </a:rPr>
              <a:t> Chức Năng / Màn Hình</a:t>
            </a:r>
            <a:endParaRPr sz="2300" b="1" i="0" u="none" strike="noStrike" cap="none" dirty="0">
              <a:solidFill>
                <a:srgbClr val="C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1982" y="1961499"/>
            <a:ext cx="4920035" cy="251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03DBC36-B2A0-923C-65EA-B1664784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BC9C0084-DE3B-699B-0322-D716CFDDE2B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88" name="Google Shape;88;p16">
            <a:extLst>
              <a:ext uri="{FF2B5EF4-FFF2-40B4-BE49-F238E27FC236}">
                <a16:creationId xmlns:a16="http://schemas.microsoft.com/office/drawing/2014/main" id="{1DF45FF7-928F-5091-E33E-C7D003E9DC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487" y="776206"/>
            <a:ext cx="690510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15E2D4-503F-669F-3447-5569313AAAE6}"/>
              </a:ext>
            </a:extLst>
          </p:cNvPr>
          <p:cNvSpPr txBox="1"/>
          <p:nvPr/>
        </p:nvSpPr>
        <p:spPr>
          <a:xfrm>
            <a:off x="3138089" y="481094"/>
            <a:ext cx="27459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ora"/>
              <a:buNone/>
            </a:pPr>
            <a:r>
              <a:rPr lang="en-US" sz="2800" b="1" dirty="0">
                <a:solidFill>
                  <a:srgbClr val="971514"/>
                </a:solidFill>
              </a:rPr>
              <a:t>Giai </a:t>
            </a:r>
            <a:r>
              <a:rPr lang="en-US" sz="2800" b="1" dirty="0" err="1">
                <a:solidFill>
                  <a:srgbClr val="971514"/>
                </a:solidFill>
              </a:rPr>
              <a:t>đoạn</a:t>
            </a:r>
            <a:r>
              <a:rPr lang="en-US" sz="2800" b="1" dirty="0">
                <a:solidFill>
                  <a:srgbClr val="971514"/>
                </a:solidFill>
              </a:rPr>
              <a:t> test</a:t>
            </a:r>
            <a:endParaRPr sz="2800" b="1" i="0" u="none" strike="noStrike" cap="none" dirty="0">
              <a:solidFill>
                <a:srgbClr val="971514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D226D56-C7B1-DEA2-EC22-B6144107C88F}"/>
              </a:ext>
            </a:extLst>
          </p:cNvPr>
          <p:cNvCxnSpPr>
            <a:cxnSpLocks/>
          </p:cNvCxnSpPr>
          <p:nvPr/>
        </p:nvCxnSpPr>
        <p:spPr>
          <a:xfrm>
            <a:off x="1359225" y="1861139"/>
            <a:ext cx="2718898" cy="1031497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643537-F1F1-23FA-3591-EA6CE39A6227}"/>
              </a:ext>
            </a:extLst>
          </p:cNvPr>
          <p:cNvCxnSpPr>
            <a:cxnSpLocks/>
          </p:cNvCxnSpPr>
          <p:nvPr/>
        </p:nvCxnSpPr>
        <p:spPr>
          <a:xfrm flipV="1">
            <a:off x="4078123" y="2199693"/>
            <a:ext cx="0" cy="7072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436256-9063-20AB-FE01-825A9B445F68}"/>
              </a:ext>
            </a:extLst>
          </p:cNvPr>
          <p:cNvCxnSpPr>
            <a:cxnSpLocks/>
          </p:cNvCxnSpPr>
          <p:nvPr/>
        </p:nvCxnSpPr>
        <p:spPr>
          <a:xfrm flipV="1">
            <a:off x="4078123" y="2193131"/>
            <a:ext cx="1490315" cy="132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8921FD-BE95-744F-A979-C1B8629AB20E}"/>
              </a:ext>
            </a:extLst>
          </p:cNvPr>
          <p:cNvCxnSpPr>
            <a:cxnSpLocks/>
          </p:cNvCxnSpPr>
          <p:nvPr/>
        </p:nvCxnSpPr>
        <p:spPr>
          <a:xfrm>
            <a:off x="5568438" y="2193131"/>
            <a:ext cx="0" cy="11572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0B54790-C271-A4E6-5AF0-CE95E17E9573}"/>
              </a:ext>
            </a:extLst>
          </p:cNvPr>
          <p:cNvSpPr txBox="1"/>
          <p:nvPr/>
        </p:nvSpPr>
        <p:spPr>
          <a:xfrm>
            <a:off x="1735931" y="1521949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B02022-1117-D8C3-1561-83429F7962C5}"/>
              </a:ext>
            </a:extLst>
          </p:cNvPr>
          <p:cNvSpPr txBox="1"/>
          <p:nvPr/>
        </p:nvSpPr>
        <p:spPr>
          <a:xfrm>
            <a:off x="5577886" y="3004720"/>
            <a:ext cx="1779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Regression Test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E2799F-6D0C-3E86-42BD-BA5DB83B7A79}"/>
              </a:ext>
            </a:extLst>
          </p:cNvPr>
          <p:cNvSpPr txBox="1"/>
          <p:nvPr/>
        </p:nvSpPr>
        <p:spPr>
          <a:xfrm>
            <a:off x="4520953" y="1861139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299086-0E31-34F9-0BB4-B5D9F7FB34C5}"/>
              </a:ext>
            </a:extLst>
          </p:cNvPr>
          <p:cNvSpPr txBox="1"/>
          <p:nvPr/>
        </p:nvSpPr>
        <p:spPr>
          <a:xfrm>
            <a:off x="3179368" y="2568370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148A7B-D153-0A50-F3F9-12D7F2D0F0F4}"/>
              </a:ext>
            </a:extLst>
          </p:cNvPr>
          <p:cNvSpPr txBox="1"/>
          <p:nvPr/>
        </p:nvSpPr>
        <p:spPr>
          <a:xfrm>
            <a:off x="1359225" y="1873285"/>
            <a:ext cx="1210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Test </a:t>
            </a:r>
            <a:r>
              <a:rPr lang="en-US" sz="900" dirty="0" err="1"/>
              <a:t>từng</a:t>
            </a:r>
            <a:r>
              <a:rPr lang="en-US" sz="900" dirty="0"/>
              <a:t> item/</a:t>
            </a:r>
            <a:r>
              <a:rPr lang="en-US" sz="900" dirty="0" err="1"/>
              <a:t>xử</a:t>
            </a:r>
            <a:r>
              <a:rPr lang="en-US" sz="900" dirty="0"/>
              <a:t> </a:t>
            </a:r>
            <a:r>
              <a:rPr lang="en-US" sz="900" dirty="0" err="1"/>
              <a:t>lý</a:t>
            </a: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56D6B-AA67-50D8-B0B9-6ECA3651DA0D}"/>
              </a:ext>
            </a:extLst>
          </p:cNvPr>
          <p:cNvSpPr txBox="1"/>
          <p:nvPr/>
        </p:nvSpPr>
        <p:spPr>
          <a:xfrm>
            <a:off x="2600684" y="2896677"/>
            <a:ext cx="15247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Test </a:t>
            </a:r>
            <a:r>
              <a:rPr lang="en-US" sz="900" dirty="0" err="1"/>
              <a:t>từng</a:t>
            </a:r>
            <a:r>
              <a:rPr lang="en-US" sz="900" dirty="0"/>
              <a:t> </a:t>
            </a:r>
            <a:r>
              <a:rPr lang="en-US" sz="900" dirty="0" err="1"/>
              <a:t>luồng</a:t>
            </a:r>
            <a:r>
              <a:rPr lang="en-US" sz="900" dirty="0"/>
              <a:t> </a:t>
            </a:r>
            <a:r>
              <a:rPr lang="en-US" sz="900" dirty="0" err="1"/>
              <a:t>nghiệp</a:t>
            </a:r>
            <a:r>
              <a:rPr lang="en-US" sz="900" dirty="0"/>
              <a:t> </a:t>
            </a:r>
            <a:r>
              <a:rPr lang="en-US" sz="900" dirty="0" err="1"/>
              <a:t>vụ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282B7-304D-0BBB-7726-EEFDC1C5BBC2}"/>
              </a:ext>
            </a:extLst>
          </p:cNvPr>
          <p:cNvSpPr txBox="1"/>
          <p:nvPr/>
        </p:nvSpPr>
        <p:spPr>
          <a:xfrm>
            <a:off x="4107716" y="2206044"/>
            <a:ext cx="14701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Test </a:t>
            </a:r>
            <a:r>
              <a:rPr lang="en-US" sz="900" dirty="0" err="1"/>
              <a:t>theo</a:t>
            </a:r>
            <a:r>
              <a:rPr lang="en-US" sz="900" dirty="0"/>
              <a:t> </a:t>
            </a:r>
            <a:r>
              <a:rPr lang="en-US" sz="900" dirty="0" err="1"/>
              <a:t>điều</a:t>
            </a:r>
            <a:r>
              <a:rPr lang="en-US" sz="900" dirty="0"/>
              <a:t> </a:t>
            </a:r>
            <a:r>
              <a:rPr lang="en-US" sz="900" dirty="0" err="1"/>
              <a:t>kiện</a:t>
            </a:r>
            <a:r>
              <a:rPr lang="en-US" sz="900" dirty="0"/>
              <a:t> done của US </a:t>
            </a:r>
            <a:r>
              <a:rPr lang="en-US" sz="900" dirty="0" err="1"/>
              <a:t>theo</a:t>
            </a:r>
            <a:r>
              <a:rPr lang="en-US" sz="900" dirty="0"/>
              <a:t> </a:t>
            </a:r>
            <a:r>
              <a:rPr lang="en-US" sz="900" dirty="0" err="1"/>
              <a:t>quan</a:t>
            </a:r>
            <a:r>
              <a:rPr lang="en-US" sz="900" dirty="0"/>
              <a:t> </a:t>
            </a:r>
            <a:r>
              <a:rPr lang="en-US" sz="900" dirty="0" err="1"/>
              <a:t>điểm</a:t>
            </a:r>
            <a:r>
              <a:rPr lang="en-US" sz="900" dirty="0"/>
              <a:t> của </a:t>
            </a:r>
            <a:r>
              <a:rPr lang="en-US" sz="900" dirty="0" err="1"/>
              <a:t>người</a:t>
            </a:r>
            <a:r>
              <a:rPr lang="en-US" sz="900" dirty="0"/>
              <a:t> </a:t>
            </a:r>
            <a:r>
              <a:rPr lang="en-US" sz="900" dirty="0" err="1"/>
              <a:t>dùng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89B7B-0879-290F-EBF2-227618F1A53C}"/>
              </a:ext>
            </a:extLst>
          </p:cNvPr>
          <p:cNvSpPr txBox="1"/>
          <p:nvPr/>
        </p:nvSpPr>
        <p:spPr>
          <a:xfrm>
            <a:off x="5734348" y="3343275"/>
            <a:ext cx="17645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Test </a:t>
            </a:r>
            <a:r>
              <a:rPr lang="en-US" sz="900" dirty="0" err="1"/>
              <a:t>luồng</a:t>
            </a:r>
            <a:r>
              <a:rPr lang="en-US" sz="900" dirty="0"/>
              <a:t> </a:t>
            </a:r>
            <a:r>
              <a:rPr lang="en-US" sz="900" dirty="0" err="1"/>
              <a:t>nghiệp</a:t>
            </a:r>
            <a:r>
              <a:rPr lang="en-US" sz="900" dirty="0"/>
              <a:t> </a:t>
            </a:r>
            <a:r>
              <a:rPr lang="en-US" sz="900" dirty="0" err="1"/>
              <a:t>vụ</a:t>
            </a:r>
            <a:r>
              <a:rPr lang="en-US" sz="900" dirty="0"/>
              <a:t> </a:t>
            </a:r>
            <a:r>
              <a:rPr lang="en-US" sz="900" dirty="0" err="1"/>
              <a:t>chính</a:t>
            </a:r>
            <a:r>
              <a:rPr lang="en-US" sz="900" dirty="0"/>
              <a:t> của </a:t>
            </a:r>
            <a:r>
              <a:rPr lang="en-US" sz="900" dirty="0" err="1"/>
              <a:t>hệ</a:t>
            </a:r>
            <a:r>
              <a:rPr lang="en-US" sz="900" dirty="0"/>
              <a:t> </a:t>
            </a:r>
            <a:r>
              <a:rPr lang="en-US" sz="900" dirty="0" err="1"/>
              <a:t>thống</a:t>
            </a:r>
            <a:r>
              <a:rPr lang="en-US" sz="900" dirty="0"/>
              <a:t> </a:t>
            </a:r>
            <a:r>
              <a:rPr lang="en-US" sz="900" dirty="0" err="1"/>
              <a:t>đame</a:t>
            </a:r>
            <a:r>
              <a:rPr lang="en-US" sz="900" dirty="0"/>
              <a:t> </a:t>
            </a:r>
            <a:r>
              <a:rPr lang="en-US" sz="900" dirty="0" err="1"/>
              <a:t>bảo</a:t>
            </a:r>
            <a:r>
              <a:rPr lang="en-US" sz="900" dirty="0"/>
              <a:t> </a:t>
            </a:r>
            <a:r>
              <a:rPr lang="en-US" sz="900" dirty="0" err="1"/>
              <a:t>không</a:t>
            </a:r>
            <a:r>
              <a:rPr lang="en-US" sz="900" dirty="0"/>
              <a:t> </a:t>
            </a:r>
            <a:r>
              <a:rPr lang="en-US" sz="900" dirty="0" err="1"/>
              <a:t>ảnh</a:t>
            </a:r>
            <a:r>
              <a:rPr lang="en-US" sz="900" dirty="0"/>
              <a:t> </a:t>
            </a:r>
            <a:r>
              <a:rPr lang="en-US" sz="900" dirty="0" err="1"/>
              <a:t>hưởng</a:t>
            </a:r>
            <a:r>
              <a:rPr lang="en-US" sz="900" dirty="0"/>
              <a:t> </a:t>
            </a:r>
            <a:r>
              <a:rPr lang="en-US" sz="900" dirty="0" err="1"/>
              <a:t>trước</a:t>
            </a:r>
            <a:r>
              <a:rPr lang="en-US" sz="900" dirty="0"/>
              <a:t> </a:t>
            </a:r>
            <a:r>
              <a:rPr lang="en-US" sz="900" dirty="0" err="1"/>
              <a:t>khi</a:t>
            </a:r>
            <a:r>
              <a:rPr lang="en-US" sz="900" dirty="0"/>
              <a:t> release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5149CA-CDAB-4C18-FD5F-2F5294FAC874}"/>
              </a:ext>
            </a:extLst>
          </p:cNvPr>
          <p:cNvCxnSpPr>
            <a:cxnSpLocks/>
          </p:cNvCxnSpPr>
          <p:nvPr/>
        </p:nvCxnSpPr>
        <p:spPr>
          <a:xfrm>
            <a:off x="5568438" y="3343275"/>
            <a:ext cx="217032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43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45A7D99-4553-1417-EEEE-A856051A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10961BC5-FD06-E8A1-2829-24098AF5D16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12B6AF4B-5766-B630-95C2-38EDCF428A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7D0E62A8-2880-9105-13BF-5CC438F80CD7}"/>
              </a:ext>
            </a:extLst>
          </p:cNvPr>
          <p:cNvSpPr txBox="1"/>
          <p:nvPr/>
        </p:nvSpPr>
        <p:spPr>
          <a:xfrm>
            <a:off x="1377342" y="709230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dirty="0" err="1">
                <a:solidFill>
                  <a:srgbClr val="C00000"/>
                </a:solidFill>
              </a:rPr>
              <a:t>Mục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tiêu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đào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tạo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7D508922-CE65-0897-196C-7DB7875A33F2}"/>
              </a:ext>
            </a:extLst>
          </p:cNvPr>
          <p:cNvSpPr txBox="1"/>
          <p:nvPr/>
        </p:nvSpPr>
        <p:spPr>
          <a:xfrm>
            <a:off x="997884" y="1884171"/>
            <a:ext cx="7844779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Unit Test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UI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/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UI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test</a:t>
            </a:r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vi-VN" dirty="0"/>
              <a:t>Viết test case chi tiết dựa trên tương tác với UI trên hệ thống (không liên quan code)</a:t>
            </a:r>
            <a:endParaRPr lang="en-US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0B1FB50A-A010-6F04-D5F4-31F209CEE47C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311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5078E8F-0BCB-2E2C-E4B0-1B36649D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8340BFD1-B1F1-E510-4104-74112DB1397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CE4C4C74-3E17-AFE6-4244-45548CD54A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38745070-0649-2A6C-C3E1-C0157BF16F31}"/>
              </a:ext>
            </a:extLst>
          </p:cNvPr>
          <p:cNvSpPr txBox="1"/>
          <p:nvPr/>
        </p:nvSpPr>
        <p:spPr>
          <a:xfrm>
            <a:off x="1377342" y="709230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dirty="0" err="1">
                <a:solidFill>
                  <a:srgbClr val="C00000"/>
                </a:solidFill>
              </a:rPr>
              <a:t>Khái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Niệm</a:t>
            </a:r>
            <a:r>
              <a:rPr lang="en-US" sz="1800" dirty="0">
                <a:solidFill>
                  <a:srgbClr val="C00000"/>
                </a:solidFill>
              </a:rPr>
              <a:t> Unit Test UI Theo </a:t>
            </a:r>
            <a:r>
              <a:rPr lang="en-US" sz="1800" dirty="0" err="1">
                <a:solidFill>
                  <a:srgbClr val="C00000"/>
                </a:solidFill>
              </a:rPr>
              <a:t>Chức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Năng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11AF9DC7-CF55-01FC-99CD-3C2FD836E6DF}"/>
              </a:ext>
            </a:extLst>
          </p:cNvPr>
          <p:cNvSpPr txBox="1"/>
          <p:nvPr/>
        </p:nvSpPr>
        <p:spPr>
          <a:xfrm>
            <a:off x="1299096" y="1714096"/>
            <a:ext cx="784477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vi-VN" dirty="0"/>
              <a:t>Unit Test = test đơn vị chức năng riêng biệt (form, bảng, modal...)</a:t>
            </a:r>
            <a:endParaRPr lang="en-US" dirty="0"/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u="sng" dirty="0" err="1">
                <a:solidFill>
                  <a:srgbClr val="C00000"/>
                </a:solidFill>
              </a:rPr>
              <a:t>Mục</a:t>
            </a:r>
            <a:r>
              <a:rPr lang="en-US" u="sng" dirty="0">
                <a:solidFill>
                  <a:srgbClr val="C00000"/>
                </a:solidFill>
              </a:rPr>
              <a:t> </a:t>
            </a:r>
            <a:r>
              <a:rPr lang="en-US" u="sng" dirty="0" err="1">
                <a:solidFill>
                  <a:srgbClr val="C00000"/>
                </a:solidFill>
              </a:rPr>
              <a:t>tiêu</a:t>
            </a:r>
            <a:r>
              <a:rPr lang="en-US" u="sng" dirty="0">
                <a:solidFill>
                  <a:srgbClr val="C00000"/>
                </a:solidFill>
              </a:rPr>
              <a:t>:</a:t>
            </a:r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logic UI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flow</a:t>
            </a:r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vi-VN" dirty="0"/>
              <a:t>Đáp ứng yêu cầu người dùng</a:t>
            </a:r>
            <a:endParaRPr lang="en-US" dirty="0"/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vi-VN" dirty="0"/>
              <a:t>Phát hiện sự sai khác trước khi test tích hợp</a:t>
            </a:r>
            <a:endParaRPr lang="en-US" dirty="0"/>
          </a:p>
          <a:p>
            <a:pPr marL="457200" lvl="0" indent="-317500">
              <a:lnSpc>
                <a:spcPct val="150000"/>
              </a:lnSpc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dirty="0"/>
              <a:t>Test manual </a:t>
            </a:r>
            <a:r>
              <a:rPr lang="en-US" dirty="0" err="1"/>
              <a:t>Trên</a:t>
            </a:r>
            <a:r>
              <a:rPr lang="en-US" dirty="0"/>
              <a:t> MT Test/MT STG </a:t>
            </a:r>
            <a:r>
              <a:rPr lang="en-US" dirty="0" err="1"/>
              <a:t>hoặc</a:t>
            </a:r>
            <a:r>
              <a:rPr lang="en-US" dirty="0"/>
              <a:t> Test </a:t>
            </a:r>
            <a:r>
              <a:rPr lang="en-US" dirty="0" err="1"/>
              <a:t>bằng</a:t>
            </a:r>
            <a:r>
              <a:rPr lang="en-US" dirty="0"/>
              <a:t> tool (Selenium, </a:t>
            </a:r>
            <a:r>
              <a:rPr lang="en-US" dirty="0" err="1"/>
              <a:t>Katalon</a:t>
            </a:r>
            <a:r>
              <a:rPr lang="en-US" dirty="0"/>
              <a:t>...)</a:t>
            </a: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60F2B8D3-756B-28DD-8C2D-369837EEEDD8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576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6EF05F0-6090-F491-D4EC-4F45BAC2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733C98C7-C904-20D3-3891-D1A67BFE057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7C7EF211-3ED5-1439-9C29-3F01885F82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17D32BCD-D845-2299-4A60-F885EAB0D5E0}"/>
              </a:ext>
            </a:extLst>
          </p:cNvPr>
          <p:cNvSpPr txBox="1"/>
          <p:nvPr/>
        </p:nvSpPr>
        <p:spPr>
          <a:xfrm>
            <a:off x="1377342" y="709230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dirty="0" err="1">
                <a:solidFill>
                  <a:srgbClr val="C00000"/>
                </a:solidFill>
              </a:rPr>
              <a:t>Phân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Biệt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Loại</a:t>
            </a:r>
            <a:r>
              <a:rPr lang="en-US" sz="1800" dirty="0">
                <a:solidFill>
                  <a:srgbClr val="C00000"/>
                </a:solidFill>
              </a:rPr>
              <a:t> Test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191FAB46-82E5-0761-5335-10F11C3A7BF6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EFDC81-D421-C3D9-327D-A02714C82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26" y="2009696"/>
            <a:ext cx="768774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C53EABD-9E8E-3C8B-1B1E-E621D70A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87077F3A-405D-7BAE-8AB4-B02793C62EB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D9CA98FA-64B3-E5F7-A918-1EFA563488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0A923256-595B-3482-56FA-9D985E2829EE}"/>
              </a:ext>
            </a:extLst>
          </p:cNvPr>
          <p:cNvSpPr txBox="1"/>
          <p:nvPr/>
        </p:nvSpPr>
        <p:spPr>
          <a:xfrm>
            <a:off x="1028943" y="830213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dirty="0">
                <a:solidFill>
                  <a:srgbClr val="C00000"/>
                </a:solidFill>
              </a:rPr>
              <a:t>Các </a:t>
            </a:r>
            <a:r>
              <a:rPr lang="en-US" sz="1800" dirty="0" err="1">
                <a:solidFill>
                  <a:srgbClr val="C00000"/>
                </a:solidFill>
              </a:rPr>
              <a:t>Bước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C00000"/>
                </a:solidFill>
              </a:rPr>
              <a:t>Viết</a:t>
            </a:r>
            <a:r>
              <a:rPr lang="en-US" sz="1800" dirty="0">
                <a:solidFill>
                  <a:srgbClr val="C00000"/>
                </a:solidFill>
              </a:rPr>
              <a:t> Unit Test UI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4901F7F5-7670-4B5E-7136-B251BEE49D8E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CD536-816E-08DD-5CE5-D5419DABB884}"/>
              </a:ext>
            </a:extLst>
          </p:cNvPr>
          <p:cNvSpPr txBox="1"/>
          <p:nvPr/>
        </p:nvSpPr>
        <p:spPr>
          <a:xfrm>
            <a:off x="1923950" y="1374022"/>
            <a:ext cx="565797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test: form, </a:t>
            </a:r>
            <a:r>
              <a:rPr lang="en-US" dirty="0" err="1"/>
              <a:t>bảng</a:t>
            </a:r>
            <a:r>
              <a:rPr lang="en-US" dirty="0"/>
              <a:t>, modal, popup, filter...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u="sng" dirty="0" err="1">
                <a:solidFill>
                  <a:srgbClr val="C00000"/>
                </a:solidFill>
              </a:rPr>
              <a:t>Tìm</a:t>
            </a:r>
            <a:r>
              <a:rPr lang="en-US" u="sng" dirty="0">
                <a:solidFill>
                  <a:srgbClr val="C00000"/>
                </a:solidFill>
              </a:rPr>
              <a:t> behavior </a:t>
            </a:r>
            <a:r>
              <a:rPr lang="en-US" u="sng" dirty="0" err="1">
                <a:solidFill>
                  <a:srgbClr val="C00000"/>
                </a:solidFill>
              </a:rPr>
              <a:t>cần</a:t>
            </a:r>
            <a:r>
              <a:rPr lang="en-US" u="sng" dirty="0">
                <a:solidFill>
                  <a:srgbClr val="C00000"/>
                </a:solidFill>
              </a:rPr>
              <a:t> </a:t>
            </a:r>
            <a:r>
              <a:rPr lang="en-US" u="sng" dirty="0" err="1">
                <a:solidFill>
                  <a:srgbClr val="C00000"/>
                </a:solidFill>
              </a:rPr>
              <a:t>kiểm</a:t>
            </a:r>
            <a:r>
              <a:rPr lang="en-US" u="sng" dirty="0">
                <a:solidFill>
                  <a:srgbClr val="C00000"/>
                </a:solidFill>
              </a:rPr>
              <a:t> </a:t>
            </a:r>
            <a:r>
              <a:rPr lang="en-US" u="sng" dirty="0" err="1">
                <a:solidFill>
                  <a:srgbClr val="C00000"/>
                </a:solidFill>
              </a:rPr>
              <a:t>tra</a:t>
            </a:r>
            <a:r>
              <a:rPr lang="en-US" u="sng" dirty="0">
                <a:solidFill>
                  <a:srgbClr val="C00000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Input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Output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Viết</a:t>
            </a:r>
            <a:r>
              <a:rPr lang="en-US" dirty="0"/>
              <a:t> test case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behavior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test,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đợi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377342" y="709230"/>
            <a:ext cx="708586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 err="1">
                <a:solidFill>
                  <a:srgbClr val="971514"/>
                </a:solidFill>
              </a:rPr>
              <a:t>Kiểm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tra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từng</a:t>
            </a:r>
            <a:r>
              <a:rPr lang="en-US" sz="1800" b="1" dirty="0">
                <a:solidFill>
                  <a:srgbClr val="971514"/>
                </a:solidFill>
              </a:rPr>
              <a:t> item </a:t>
            </a:r>
            <a:r>
              <a:rPr lang="en-US" sz="1800" b="1" dirty="0" err="1">
                <a:solidFill>
                  <a:srgbClr val="971514"/>
                </a:solidFill>
              </a:rPr>
              <a:t>trên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màn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hình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chức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năng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hoặc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từng</a:t>
            </a:r>
            <a:r>
              <a:rPr lang="en-US" sz="1800" b="1" dirty="0">
                <a:solidFill>
                  <a:srgbClr val="971514"/>
                </a:solidFill>
              </a:rPr>
              <a:t> API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</a:rPr>
              <a:t>=&gt; </a:t>
            </a:r>
            <a:r>
              <a:rPr lang="en-US" sz="1800" b="1" dirty="0" err="1">
                <a:solidFill>
                  <a:srgbClr val="971514"/>
                </a:solidFill>
              </a:rPr>
              <a:t>Đảm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bảo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Hệ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thống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hoạt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động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chính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xác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theo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thiết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kế</a:t>
            </a:r>
            <a:r>
              <a:rPr lang="en-US" sz="1800" b="1" dirty="0">
                <a:solidFill>
                  <a:srgbClr val="971514"/>
                </a:solidFill>
              </a:rPr>
              <a:t>/spec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567817" y="1481900"/>
            <a:ext cx="336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thực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Dev/Tester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1880232" y="2231000"/>
            <a:ext cx="53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hoàn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thiện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chức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năng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xử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màn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</a:t>
            </a:r>
            <a:endParaRPr dirty="0"/>
          </a:p>
        </p:txBody>
      </p:sp>
      <p:sp>
        <p:nvSpPr>
          <p:cNvPr id="103" name="Google Shape;103;p17"/>
          <p:cNvSpPr txBox="1"/>
          <p:nvPr/>
        </p:nvSpPr>
        <p:spPr>
          <a:xfrm>
            <a:off x="1567852" y="2669475"/>
            <a:ext cx="448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Mục tiêu: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Đảm bảo xử lý đúng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917359" y="3038822"/>
            <a:ext cx="53664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UI: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Đầy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đủ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không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lệch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chuẩn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chỉnh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đúng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UX: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đồng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bộ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với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hệ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thống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dùng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hiểu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get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đúng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lưu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DB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đúng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Đảm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bảo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các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xử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chạy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đúng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Đảm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bảo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đã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cover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đủ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các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trường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hợp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lỗi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567824" y="1877000"/>
            <a:ext cx="19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Thời điểm test:</a:t>
            </a:r>
            <a:endParaRPr sz="1800"/>
          </a:p>
        </p:txBody>
      </p:sp>
      <p:sp>
        <p:nvSpPr>
          <p:cNvPr id="3" name="Callout: Bent Line with Accent Bar 2">
            <a:extLst>
              <a:ext uri="{FF2B5EF4-FFF2-40B4-BE49-F238E27FC236}">
                <a16:creationId xmlns:a16="http://schemas.microsoft.com/office/drawing/2014/main" id="{F7A75DE9-154B-4057-89AE-5797C056D69C}"/>
              </a:ext>
            </a:extLst>
          </p:cNvPr>
          <p:cNvSpPr/>
          <p:nvPr/>
        </p:nvSpPr>
        <p:spPr>
          <a:xfrm>
            <a:off x="6618052" y="1646150"/>
            <a:ext cx="2130384" cy="1169700"/>
          </a:xfrm>
          <a:prstGeom prst="accentCallout2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 </a:t>
            </a:r>
            <a:r>
              <a:rPr lang="en-US" dirty="0" err="1"/>
              <a:t>cần</a:t>
            </a:r>
            <a:r>
              <a:rPr lang="en-US" dirty="0"/>
              <a:t> cover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F7FB313-CB66-BCD3-66E3-38EB091F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F6CD9D37-E882-24F2-333E-AE17E7061F6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48FF5F5F-33E7-0EF0-EB08-A187351B7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250" y="618399"/>
            <a:ext cx="7273375" cy="8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63EF0E81-F7BE-99DD-0311-B9CA70ED4346}"/>
              </a:ext>
            </a:extLst>
          </p:cNvPr>
          <p:cNvSpPr txBox="1"/>
          <p:nvPr/>
        </p:nvSpPr>
        <p:spPr>
          <a:xfrm>
            <a:off x="3372396" y="750794"/>
            <a:ext cx="3360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Các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nhóm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testcase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cơ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bản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9C6C7102-993D-DD7D-4709-6ED06100171C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3862-8BFB-BF32-E3AF-FF0791DBF761}"/>
              </a:ext>
            </a:extLst>
          </p:cNvPr>
          <p:cNvSpPr txBox="1"/>
          <p:nvPr/>
        </p:nvSpPr>
        <p:spPr>
          <a:xfrm>
            <a:off x="2907722" y="1450174"/>
            <a:ext cx="465166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layout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Validate (</a:t>
            </a:r>
            <a:r>
              <a:rPr lang="en-US" dirty="0" err="1"/>
              <a:t>Lỗi</a:t>
            </a:r>
            <a:r>
              <a:rPr lang="en-US" dirty="0"/>
              <a:t> FE)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(</a:t>
            </a:r>
            <a:r>
              <a:rPr lang="en-US" dirty="0" err="1"/>
              <a:t>Lỗi</a:t>
            </a:r>
            <a:r>
              <a:rPr lang="en-US" dirty="0"/>
              <a:t> BE)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Case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DB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hướng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độngc</a:t>
            </a:r>
            <a:r>
              <a:rPr lang="en-US" dirty="0"/>
              <a:t> </a:t>
            </a:r>
            <a:r>
              <a:rPr lang="en-US" dirty="0" err="1"/>
              <a:t>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button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Check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Check Security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Check </a:t>
            </a:r>
            <a:r>
              <a:rPr lang="en-US" dirty="0" err="1"/>
              <a:t>các</a:t>
            </a:r>
            <a:r>
              <a:rPr lang="en-US" dirty="0"/>
              <a:t> case </a:t>
            </a:r>
            <a:r>
              <a:rPr lang="en-US" dirty="0" err="1"/>
              <a:t>khác</a:t>
            </a:r>
            <a:r>
              <a:rPr lang="en-US" dirty="0"/>
              <a:t> (Check </a:t>
            </a:r>
            <a:r>
              <a:rPr lang="en-US" dirty="0" err="1"/>
              <a:t>các</a:t>
            </a:r>
            <a:r>
              <a:rPr lang="en-US" dirty="0"/>
              <a:t> case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case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..)</a:t>
            </a:r>
          </a:p>
        </p:txBody>
      </p:sp>
    </p:spTree>
    <p:extLst>
      <p:ext uri="{BB962C8B-B14F-4D97-AF65-F5344CB8AC3E}">
        <p14:creationId xmlns:p14="http://schemas.microsoft.com/office/powerpoint/2010/main" val="125740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0839F87-B575-239A-C7CC-6BFA6EC1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1FD14FD5-E114-47F6-4DB9-9C64E98456D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480BDA44-C703-FBBA-4AD0-9034347F503E}"/>
              </a:ext>
            </a:extLst>
          </p:cNvPr>
          <p:cNvSpPr txBox="1"/>
          <p:nvPr/>
        </p:nvSpPr>
        <p:spPr>
          <a:xfrm>
            <a:off x="2845923" y="627133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Nhóm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Tetscase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Layout,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khởi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tạo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FEB7E840-1FE9-64A4-0A31-14383D553EDC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5CA97D-92F9-B8D6-29A2-EA6C5FE43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9854"/>
            <a:ext cx="9144000" cy="200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6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0416B00-8B47-7E98-5E4F-25FCF82E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105DC6A9-2E82-35AB-F3E4-EF3D1F1ED76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161B7164-00C0-BB54-6C95-145F22CE4766}"/>
              </a:ext>
            </a:extLst>
          </p:cNvPr>
          <p:cNvSpPr txBox="1"/>
          <p:nvPr/>
        </p:nvSpPr>
        <p:spPr>
          <a:xfrm>
            <a:off x="3123014" y="49381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Nhóm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Tetscase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LỖI PHỔ BIẾN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5046BBE8-22CB-9DD5-9A3D-E4D35DA60748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8EB5E-8FDC-3F42-075C-90A43CD62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" y="482867"/>
            <a:ext cx="9144000" cy="466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32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4288454-E9DE-564F-4968-81B8F43D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5B8DC165-7600-A0F6-FB72-F68FAC00F4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314ECA8F-4FC4-D071-6C01-01AE4B09D627}"/>
              </a:ext>
            </a:extLst>
          </p:cNvPr>
          <p:cNvSpPr txBox="1"/>
          <p:nvPr/>
        </p:nvSpPr>
        <p:spPr>
          <a:xfrm>
            <a:off x="3150723" y="467806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Nhóm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Tetscase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Thành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tcs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khác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CEE61346-3FDB-611B-6E78-2F0288F75FA3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D904AC-B6CD-6CA9-CB70-658958F5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1988"/>
            <a:ext cx="9144000" cy="207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9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C294501-C006-8FA7-7428-C41FF74F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F67467BE-FDF5-A6E8-8476-9802E9AFE90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25718B0D-3EB2-C3EE-A25F-75AB81AE8873}"/>
              </a:ext>
            </a:extLst>
          </p:cNvPr>
          <p:cNvSpPr txBox="1"/>
          <p:nvPr/>
        </p:nvSpPr>
        <p:spPr>
          <a:xfrm>
            <a:off x="3178433" y="169831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Testcase Login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tham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khảo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7B7075D6-7A5F-CE29-052F-FB7B85A687A6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8BA76-BE6F-823E-FBF6-5CA7350B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02" y="699547"/>
            <a:ext cx="7030431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8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174CC23-3052-3C39-36B4-ADF469B9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AFC4D3AF-6081-B59B-0943-6F4799C7AE7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24DE9279-9CEC-7195-6504-2676E9290057}"/>
              </a:ext>
            </a:extLst>
          </p:cNvPr>
          <p:cNvSpPr txBox="1"/>
          <p:nvPr/>
        </p:nvSpPr>
        <p:spPr>
          <a:xfrm>
            <a:off x="3178433" y="169831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Testcase Register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tham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khảo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710C2BA6-2A68-71AC-6377-20F45A53B632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BDFE7-8154-EE53-1ADD-D82E95C8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6235"/>
            <a:ext cx="9144000" cy="267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69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8C487EB-E754-C5BE-A4BD-6DD0D65F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FABD552A-C74F-39FC-9A04-68B3CA9488B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D7F9B6E9-E233-C9E0-E864-9FE24EFA27F0}"/>
              </a:ext>
            </a:extLst>
          </p:cNvPr>
          <p:cNvSpPr txBox="1"/>
          <p:nvPr/>
        </p:nvSpPr>
        <p:spPr>
          <a:xfrm>
            <a:off x="3178433" y="169831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Testcase Search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tham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khảo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E5D73A4E-F60A-2569-CE16-178346CB4FFE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A2C0A-9B13-2A56-BC44-AEE2D574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0738"/>
            <a:ext cx="9144000" cy="37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64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0E8A30F-B300-C283-17F1-CDFF4AFB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A2EB569E-7FE2-C32E-3D48-090F6B641D9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51A45E8D-8962-C210-E7F9-D42FEB22DCB3}"/>
              </a:ext>
            </a:extLst>
          </p:cNvPr>
          <p:cNvSpPr txBox="1"/>
          <p:nvPr/>
        </p:nvSpPr>
        <p:spPr>
          <a:xfrm>
            <a:off x="3178433" y="169831"/>
            <a:ext cx="41229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Testcase Create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tham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khảo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C6285529-8C28-AF2E-43E0-640D2725D501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DE86A-E00B-5C51-56BD-7C3C2059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9485"/>
            <a:ext cx="9144000" cy="174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56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98541A0-E4A5-D5E5-A6D3-1EE78401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20796BC9-3C8B-7CEE-B33D-0A412517817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59BCF70C-2ABB-16C8-B376-A616D66DF963}"/>
              </a:ext>
            </a:extLst>
          </p:cNvPr>
          <p:cNvSpPr txBox="1"/>
          <p:nvPr/>
        </p:nvSpPr>
        <p:spPr>
          <a:xfrm>
            <a:off x="3178433" y="169831"/>
            <a:ext cx="487798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Data Test sample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tham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khảo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(Check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kiểu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kí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tự</a:t>
            </a:r>
            <a:r>
              <a:rPr lang="en-US" sz="1800" b="1" dirty="0">
                <a:solidFill>
                  <a:srgbClr val="97151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i="0" u="none" strike="noStrike" cap="none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D5D4BDFB-515B-1F04-54D9-D76427C31AA9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F99E2-C491-89F3-7889-52D0EABEA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504" y="1000570"/>
            <a:ext cx="4677428" cy="1895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6775C0-1664-69E3-72F0-59FEA9089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45" y="1000570"/>
            <a:ext cx="2562583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3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25AFC78-80BB-EE29-6292-892B7A5A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34DF3C92-E461-BD7C-E56A-B8443D4F10B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99" name="Google Shape;99;p17">
            <a:extLst>
              <a:ext uri="{FF2B5EF4-FFF2-40B4-BE49-F238E27FC236}">
                <a16:creationId xmlns:a16="http://schemas.microsoft.com/office/drawing/2014/main" id="{4D86E648-8423-4427-1337-16F1B83369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8110" y="82286"/>
            <a:ext cx="3247931" cy="589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46303C8F-695D-A46D-ED4A-04B18F1DB0AA}"/>
              </a:ext>
            </a:extLst>
          </p:cNvPr>
          <p:cNvSpPr txBox="1"/>
          <p:nvPr/>
        </p:nvSpPr>
        <p:spPr>
          <a:xfrm>
            <a:off x="1028943" y="189018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dirty="0"/>
              <a:t>Format Test Case </a:t>
            </a:r>
            <a:r>
              <a:rPr lang="en-US" sz="1800" dirty="0" err="1"/>
              <a:t>Mẫu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DFCCB065-10B6-72B8-2922-4305552C66A3}"/>
              </a:ext>
            </a:extLst>
          </p:cNvPr>
          <p:cNvSpPr/>
          <p:nvPr/>
        </p:nvSpPr>
        <p:spPr>
          <a:xfrm>
            <a:off x="264795" y="82286"/>
            <a:ext cx="246316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UT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50B0B-A407-976C-7197-9FB141B74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4731"/>
            <a:ext cx="9144000" cy="418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1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5AAF3E2-7274-5FB4-ED9C-88FEC136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914C8123-74F2-15A4-0020-FC452CF458A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41E61B12-451F-C7F7-4364-721EA3DA51DD}"/>
              </a:ext>
            </a:extLst>
          </p:cNvPr>
          <p:cNvSpPr txBox="1"/>
          <p:nvPr/>
        </p:nvSpPr>
        <p:spPr>
          <a:xfrm>
            <a:off x="1028943" y="189018"/>
            <a:ext cx="70858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971514"/>
              </a:buClr>
              <a:buSzPts val="1800"/>
            </a:pPr>
            <a:r>
              <a:rPr lang="en-US" sz="1800" b="1" i="0" u="none" strike="noStrike" cap="none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Thực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hành</a:t>
            </a: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Tạo</a:t>
            </a: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testcase Ut </a:t>
            </a:r>
            <a:r>
              <a:rPr lang="en-US" sz="1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cho</a:t>
            </a: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form </a:t>
            </a:r>
            <a:r>
              <a:rPr lang="en-US" sz="1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đăng</a:t>
            </a: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ký</a:t>
            </a:r>
            <a:endParaRPr sz="1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431E1-72F7-1E74-E02D-60E22E0BF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639" y="622216"/>
            <a:ext cx="4721906" cy="43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5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0741" y="507117"/>
            <a:ext cx="6443100" cy="62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807087" y="614483"/>
            <a:ext cx="59161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>
                <a:solidFill>
                  <a:srgbClr val="971514"/>
                </a:solidFill>
              </a:rPr>
              <a:t>Test theo từng luồng nghiệp vụ</a:t>
            </a:r>
            <a:endParaRPr sz="1800" b="1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459665" y="1242089"/>
            <a:ext cx="44824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 thực hiện: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1459665" y="1577016"/>
            <a:ext cx="288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Thời điểm test:</a:t>
            </a:r>
            <a:endParaRPr sz="18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1888682" y="1988882"/>
            <a:ext cx="591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khi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tất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cả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chức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năng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Xử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lý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của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luồng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nghiệp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vụ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đó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đã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hoàn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thành</a:t>
            </a:r>
            <a:endParaRPr sz="14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459676" y="2351550"/>
            <a:ext cx="626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Mục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tiêu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Đảm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đáp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ứng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được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flow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sử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dụng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của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dùng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888682" y="2771865"/>
            <a:ext cx="5366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dụng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Đầy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đủ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thiết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Bỏ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đi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dư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thừa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không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đến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Thêm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giải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quyết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muốn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/vấn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Đảm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bảo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chức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hợp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nhau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63855" y="56869"/>
            <a:ext cx="3507106" cy="27219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IT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0741" y="507117"/>
            <a:ext cx="6443101" cy="62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1807087" y="614483"/>
            <a:ext cx="591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>
                <a:solidFill>
                  <a:srgbClr val="971514"/>
                </a:solidFill>
              </a:rPr>
              <a:t>Thoả mãn tất cả điều kiện done của US</a:t>
            </a:r>
            <a:endParaRPr sz="1800" b="1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1459665" y="1242089"/>
            <a:ext cx="448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thực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QC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459665" y="1577016"/>
            <a:ext cx="288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Thời điểm test:</a:t>
            </a:r>
            <a:endParaRPr sz="18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888682" y="1988882"/>
            <a:ext cx="591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hoàn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thành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US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trước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PO review)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459676" y="2351550"/>
            <a:ext cx="626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Mục tiêu: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Đảm bảo output đã thoả mãn điều kiện done của US và đáp ứng được mong đợi của người dùng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888682" y="3000465"/>
            <a:ext cx="5366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Đứng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quan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test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hiểu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Feedback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nội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dung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chỉnh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sửa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hoặc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thêm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mới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đáp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đợi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giải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quyết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vấn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của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bỏ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không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thiết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63855" y="56869"/>
            <a:ext cx="3507000" cy="27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UAT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sldNum" idx="4294967295"/>
          </p:nvPr>
        </p:nvSpPr>
        <p:spPr>
          <a:xfrm>
            <a:off x="-125" y="4813400"/>
            <a:ext cx="91440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0741" y="507117"/>
            <a:ext cx="6443101" cy="62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1807087" y="614483"/>
            <a:ext cx="591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1514"/>
              </a:buClr>
              <a:buSzPts val="1800"/>
              <a:buFont typeface="Lora"/>
              <a:buNone/>
            </a:pPr>
            <a:r>
              <a:rPr lang="en-US" sz="1800" b="1" dirty="0">
                <a:solidFill>
                  <a:srgbClr val="971514"/>
                </a:solidFill>
              </a:rPr>
              <a:t>Test </a:t>
            </a:r>
            <a:r>
              <a:rPr lang="en-US" sz="1800" b="1" dirty="0" err="1">
                <a:solidFill>
                  <a:srgbClr val="971514"/>
                </a:solidFill>
              </a:rPr>
              <a:t>luồng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nghiệp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vụ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chính</a:t>
            </a:r>
            <a:r>
              <a:rPr lang="en-US" sz="1800" b="1" dirty="0">
                <a:solidFill>
                  <a:srgbClr val="971514"/>
                </a:solidFill>
              </a:rPr>
              <a:t> của </a:t>
            </a:r>
            <a:r>
              <a:rPr lang="en-US" sz="1800" b="1" dirty="0" err="1">
                <a:solidFill>
                  <a:srgbClr val="971514"/>
                </a:solidFill>
              </a:rPr>
              <a:t>hệ</a:t>
            </a:r>
            <a:r>
              <a:rPr lang="en-US" sz="1800" b="1" dirty="0">
                <a:solidFill>
                  <a:srgbClr val="971514"/>
                </a:solidFill>
              </a:rPr>
              <a:t> </a:t>
            </a:r>
            <a:r>
              <a:rPr lang="en-US" sz="1800" b="1" dirty="0" err="1">
                <a:solidFill>
                  <a:srgbClr val="971514"/>
                </a:solidFill>
              </a:rPr>
              <a:t>thống</a:t>
            </a:r>
            <a:endParaRPr sz="1800" b="1" dirty="0">
              <a:solidFill>
                <a:srgbClr val="97151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459665" y="1242089"/>
            <a:ext cx="4482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thực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hiện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           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459665" y="2143757"/>
            <a:ext cx="288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Thời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điểm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test:</a:t>
            </a:r>
            <a:endParaRPr sz="1800" b="1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1888682" y="2555623"/>
            <a:ext cx="591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Sau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tất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cả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US của sprint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hoàn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thành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khi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có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bản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build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mới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</a:t>
            </a:r>
            <a:endParaRPr sz="14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459676" y="2994491"/>
            <a:ext cx="626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Mục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tiêu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Đảm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bảo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không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phát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sinh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lỗi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thay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đổi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làm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ảnh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hưởng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đến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dùng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1888682" y="3643406"/>
            <a:ext cx="5366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nghiệp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vụ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của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vẫn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tốt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không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ảnh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hưởng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63855" y="56869"/>
            <a:ext cx="3507000" cy="272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20000" y="120000"/>
                </a:lnTo>
                <a:lnTo>
                  <a:pt x="-10000" y="135556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45454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ST/Regression Test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2;p20">
            <a:extLst>
              <a:ext uri="{FF2B5EF4-FFF2-40B4-BE49-F238E27FC236}">
                <a16:creationId xmlns:a16="http://schemas.microsoft.com/office/drawing/2014/main" id="{59784269-B48B-D22A-ED59-7EE5F907C683}"/>
              </a:ext>
            </a:extLst>
          </p:cNvPr>
          <p:cNvSpPr txBox="1"/>
          <p:nvPr/>
        </p:nvSpPr>
        <p:spPr>
          <a:xfrm>
            <a:off x="1888682" y="1707987"/>
            <a:ext cx="591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Sử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dụng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follow UAT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có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mức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độ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ưu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tiên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cao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để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test</a:t>
            </a:r>
            <a:endParaRPr sz="14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4146" y="1902144"/>
            <a:ext cx="3389068" cy="80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3501626" y="1835798"/>
            <a:ext cx="2140748" cy="73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ora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end</a:t>
            </a:r>
            <a:endParaRPr sz="3600" b="1" i="0" u="none" strike="noStrike" cap="none">
              <a:solidFill>
                <a:srgbClr val="C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874</Words>
  <Application>Microsoft Office PowerPoint</Application>
  <PresentationFormat>On-screen Show (16:9)</PresentationFormat>
  <Paragraphs>146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Arial</vt:lpstr>
      <vt:lpstr>Wingdings</vt:lpstr>
      <vt:lpstr>Playfair Display</vt:lpstr>
      <vt:lpstr>Meiryo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common dev4</cp:lastModifiedBy>
  <cp:revision>7</cp:revision>
  <dcterms:modified xsi:type="dcterms:W3CDTF">2025-08-25T09:34:08Z</dcterms:modified>
</cp:coreProperties>
</file>